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8" r:id="rId4"/>
    <p:sldId id="278" r:id="rId5"/>
    <p:sldId id="276" r:id="rId6"/>
    <p:sldId id="267" r:id="rId7"/>
    <p:sldId id="269" r:id="rId8"/>
    <p:sldId id="261" r:id="rId9"/>
    <p:sldId id="280" r:id="rId18"/>
    <p:sldId id="270" r:id="rId10"/>
    <p:sldId id="271" r:id="rId11"/>
    <p:sldId id="279" r:id="rId12"/>
    <p:sldId id="27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61EEE-23F8-4397-A609-1B9B4F6E36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6E9F9-2062-4664-8F90-D110AFA9E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554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C404B-2584-405B-BF2E-35F94D044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1132" y="238126"/>
            <a:ext cx="10092267" cy="591364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E00CD-071B-486A-BD56-2FC607DD9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012824"/>
            <a:ext cx="11684000" cy="56070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9884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E2484-70ED-425A-BCEE-75BBE43F6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BB42B-ACA5-41BD-8FA9-DB9B9E23D8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E7A450-5341-4BE3-821E-49E46115DA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17768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84F568-96BC-46EB-9D43-A8F646EBE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6466" y="365126"/>
            <a:ext cx="10092267" cy="760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2F078-EDAF-4F52-A929-B2B984E2F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7133" y="1253330"/>
            <a:ext cx="11497733" cy="54014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A67013-3207-E11D-A92D-9E3399268E8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41833" y="89674"/>
            <a:ext cx="1579001" cy="76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115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8B642-E872-4A6B-85E6-BD01ADE0F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868" y="1048725"/>
            <a:ext cx="11495315" cy="4557227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b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 </a:t>
            </a:r>
            <a:b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(ODD 2026-27) 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24CSE57 -SOCIETAL BASED MINI PROJECT</a:t>
            </a:r>
            <a:b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MediDispatch: Vitals-Driven Emergency Response</a:t>
            </a:r>
            <a:b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</a:t>
            </a:r>
            <a:b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</a:t>
            </a:r>
            <a:b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sz="3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4A33F5-FE77-274A-04B5-2E0692E69C7B}"/>
              </a:ext>
            </a:extLst>
          </p:cNvPr>
          <p:cNvSpPr txBox="1"/>
          <p:nvPr/>
        </p:nvSpPr>
        <p:spPr>
          <a:xfrm>
            <a:off x="248817" y="4832789"/>
            <a:ext cx="5000000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  <a:p>
            <a:pPr algn="ctr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1NH24CS026 - Anuj Pandita</a:t>
            </a:r>
          </a:p>
          <a:p>
            <a:pPr algn="ctr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1NH24CS025 - Annanya Dutta</a:t>
            </a:r>
          </a:p>
          <a:p>
            <a:pPr algn="ctr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39992D7F-50A1-1783-7416-20DF685FE65B}"/>
              </a:ext>
            </a:extLst>
          </p:cNvPr>
          <p:cNvSpPr txBox="1">
            <a:spLocks/>
          </p:cNvSpPr>
          <p:nvPr/>
        </p:nvSpPr>
        <p:spPr>
          <a:xfrm>
            <a:off x="7679093" y="4674637"/>
            <a:ext cx="4366727" cy="21447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Reviewer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Dr. Rajlakshmi G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Dept. of CSE, NHCE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0773B8-711A-397A-1C1F-5574A17E26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4268"/>
          <a:stretch/>
        </p:blipFill>
        <p:spPr>
          <a:xfrm>
            <a:off x="103518" y="88852"/>
            <a:ext cx="10856718" cy="131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041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865D5-E228-4BC4-98BA-B1C6045F1E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3741" y="0"/>
            <a:ext cx="10110159" cy="80379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49B645-3271-4353-8BE5-8405349E88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891" y="948907"/>
            <a:ext cx="11240218" cy="5624421"/>
          </a:xfrm>
        </p:spPr>
        <p:txBody>
          <a:bodyPr>
            <a:noAutofit/>
          </a:bodyPr>
          <a:lstStyle/>
          <a:p>
            <a:pPr marL="914400" indent="-377825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30238" algn="l"/>
              </a:tabLst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marL="914400" indent="-377825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30238" algn="l"/>
              </a:tabLst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Literature Survey</a:t>
            </a:r>
          </a:p>
          <a:p>
            <a:pPr marL="914400" indent="-377825" algn="l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630238" algn="l"/>
              </a:tabLst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Problem Definition</a:t>
            </a:r>
          </a:p>
          <a:p>
            <a:pPr marL="914400" indent="-377825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30238" algn="l"/>
              </a:tabLst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Objectives</a:t>
            </a:r>
          </a:p>
          <a:p>
            <a:pPr marL="914400" indent="-377825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30238" algn="l"/>
              </a:tabLst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Requirement Specification</a:t>
            </a:r>
          </a:p>
          <a:p>
            <a:pPr marL="914400" indent="-377825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30238" algn="l"/>
              </a:tabLst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Design</a:t>
            </a:r>
          </a:p>
          <a:p>
            <a:pPr marL="914400" indent="-377825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30238" algn="l"/>
              </a:tabLst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Methodology </a:t>
            </a:r>
          </a:p>
          <a:p>
            <a:pPr marL="914400" indent="-377825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30238" algn="l"/>
              </a:tabLst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Implementation Roadmap</a:t>
            </a:r>
          </a:p>
          <a:p>
            <a:pPr marL="914400" indent="-377825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30238" algn="l"/>
              </a:tabLst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References</a:t>
            </a:r>
          </a:p>
          <a:p>
            <a:pPr marL="536575" algn="l" eaLnBrk="1" fontAlgn="auto" hangingPunct="1">
              <a:lnSpc>
                <a:spcPct val="100000"/>
              </a:lnSpc>
              <a:spcAft>
                <a:spcPts val="0"/>
              </a:spcAft>
              <a:tabLst>
                <a:tab pos="630238" algn="l"/>
              </a:tabLst>
              <a:defRPr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914400" indent="-377825" algn="l" eaLnBrk="1" fontAlgn="auto" hangingPunct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630238" algn="l"/>
              </a:tabLst>
              <a:defRPr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742950" indent="-7429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0063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4A2C1F57-351D-0D47-A18F-8B37F0228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77D8CD95-5FBF-BC20-71C7-61B28FE1E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spcBef>
                <a:spcPts val="1000"/>
              </a:spcBef>
              <a:buNone/>
            </a:pPr>
            <a:r>
              <a:rPr lang="en-US" sz="2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MediDispatch is a simulation-only emergency dispatch system that uses a patient's live vital signs to decide who gets help first.</a:t>
            </a:r>
          </a:p>
          <a:p>
            <a:pPr marL="0" indent="0" algn="l">
              <a:spcBef>
                <a:spcPts val="1000"/>
              </a:spcBef>
              <a:buNone/>
            </a:pPr>
            <a:r>
              <a:rPr lang="en-US" sz="2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Registered at-risk people, such as elderly and cardiac patients, stream readings from wearables, which are simulated with synthetic data.</a:t>
            </a:r>
          </a:p>
          <a:p>
            <a:pPr marL="0" indent="0" algn="l">
              <a:spcBef>
                <a:spcPts val="1000"/>
              </a:spcBef>
              <a:buNone/>
            </a:pPr>
            <a:r>
              <a:rPr lang="en-US" sz="2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Each reading becomes an explainable risk score that opens a case in a priority queue, and the queue re-ranks as the patient gets better or worse.</a:t>
            </a:r>
          </a:p>
          <a:p>
            <a:pPr marL="0" indent="0" algn="l">
              <a:spcBef>
                <a:spcPts val="1000"/>
              </a:spcBef>
              <a:buNone/>
            </a:pPr>
            <a:r>
              <a:rPr lang="en-US" sz="2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A dispatch engine sends the nearest suitable unit and claims it atomically, so one unit is never sent to two cases.</a:t>
            </a:r>
          </a:p>
          <a:p>
            <a:pPr marL="0" indent="0" algn="l">
              <a:spcBef>
                <a:spcPts val="1000"/>
              </a:spcBef>
              <a:buNone/>
            </a:pPr>
            <a:r>
              <a:rPr lang="en-US" sz="2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If a unit goes silent or breaks down, the case returns to the queue and the next-best unit is sent.</a:t>
            </a:r>
          </a:p>
          <a:p>
            <a:pPr marL="0" indent="0" algn="l">
              <a:spcBef>
                <a:spcPts val="1000"/>
              </a:spcBef>
              <a:buNone/>
            </a:pPr>
            <a:r>
              <a:rPr lang="en-US" sz="2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The core is pure Java built with ports and adapters, and it is already covered by 354 automated tests.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89F92-5A49-1FE2-2EB8-A315AAF1D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359" y="238126"/>
            <a:ext cx="8832011" cy="61983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Literature Survey</a:t>
            </a:r>
            <a:endParaRPr lang="en-IN" b="1" dirty="0">
              <a:solidFill>
                <a:srgbClr val="C00000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A45AA39-68D9-B0C0-1FCF-CA743E7953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832827"/>
              </p:ext>
            </p:extLst>
          </p:nvPr>
        </p:nvGraphicFramePr>
        <p:xfrm>
          <a:off x="396000" y="1000000"/>
          <a:ext cx="11400000" cy="49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0000">
                  <a:extLst>
                    <a:ext uri="{9D8B030D-6E8A-4147-A177-3AD203B41FA5}">
                      <a16:colId xmlns:a16="http://schemas.microsoft.com/office/drawing/2014/main" val="3963886842"/>
                    </a:ext>
                  </a:extLst>
                </a:gridCol>
                <a:gridCol w="1650000">
                  <a:extLst>
                    <a:ext uri="{9D8B030D-6E8A-4147-A177-3AD203B41FA5}">
                      <a16:colId xmlns:a16="http://schemas.microsoft.com/office/drawing/2014/main" val="1517270172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417903582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val="796792052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val="16275035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 xml:space="preserve"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 xml:space="preserve"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 xml:space="preserve">Technology used in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 xml:space="preserve"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 xml:space="preserve">Drawback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792731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 xml:space="preserve">Ambulance location and relocation models (2003)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 xml:space="preserve">L. Brotcorne, G. Laporte, F. Semet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 xml:space="preserve">Deterministic, queueing-based and dynamic relocation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 xml:space="preserve">Reviews 30 years of work; shows how to reposition vehicles during the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 xml:space="preserve">Places vehicles only; patient condition plays no part in priority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715756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 xml:space="preserve">Vital signs prediction and EWS calculation using wearable technology (2020)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 xml:space="preserve">A. Y. A. Amer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 xml:space="preserve">Wearable sensor, kNN-LS-SVM forecasting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 xml:space="preserve">EWS components every minute; vitals forecast 1 to 3 hours ahead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 xml:space="preserve">No temperature; motion noise caused EWS errors; stops at scoring, no dispatch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805003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 xml:space="preserve">Effect of machine learning on dispatcher recognition of cardiac arrest (2021)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 xml:space="preserve">S. N. Blomberg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 xml:space="preserve">ML on emergency call audio; randomized trial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 xml:space="preserve">Model sensitivity 85.0% vs 77.5% for dispatchers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 xml:space="preserve">No significant gain in dispatcher recognition; low precision (17.8%); call-driven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399909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 xml:space="preserve">Impact of wearable continuous vital sign monitoring on deterioration detection (2021)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 xml:space="preserve">C. Areia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 xml:space="preserve">Systematic review and meta-analysis, 10 studies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 xml:space="preserve">Maps the evidence; advises tuning alarm thresholds to cut false alarms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 xml:space="preserve">No statistically significant benefit on outcomes; small, mixed studies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640733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 xml:space="preserve">NEWS2-enhanced prediction model for clinical deterioration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 xml:space="preserve">S. Lo Conte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 xml:space="preserve">NEWS2 plus age and context in 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 xml:space="preserve">Context added to NEWS2; AUC 0.76 on validation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 xml:space="preserve">Single centre, retrospective, no external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77444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5467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A43BA-6E45-63EB-EB49-767FBE457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0513" y="238126"/>
            <a:ext cx="8072886" cy="591364"/>
          </a:xfrm>
        </p:spPr>
        <p:txBody>
          <a:bodyPr>
            <a:normAutofit fontScale="90000"/>
          </a:bodyPr>
          <a:lstStyle/>
          <a:p>
            <a:r>
              <a:rPr lang="en-US" altLang="en-US" sz="4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5B03D-9A38-71C8-CAF4-2A0156681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l">
              <a:spcBef>
                <a:spcPts val="2000"/>
              </a:spcBef>
              <a:buFont typeface="Arial"/>
              <a:buChar char="•"/>
            </a:pPr>
            <a:r>
              <a:rPr lang="en-US" sz="2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Emergency dispatch is reactive and call-driven: help is requested only after someone notices a problem.</a:t>
            </a:r>
          </a:p>
          <a:p>
            <a:pPr marL="342900" indent="-342900" algn="l">
              <a:spcBef>
                <a:spcPts val="2000"/>
              </a:spcBef>
              <a:buFont typeface="Arial"/>
              <a:buChar char="•"/>
            </a:pPr>
            <a:r>
              <a:rPr lang="en-US" sz="2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For at-risk people, deterioration shows in the vitals minutes or hours before anyone calls, so it is noticed late.</a:t>
            </a:r>
          </a:p>
          <a:p>
            <a:pPr marL="342900" indent="-342900" algn="l">
              <a:spcBef>
                <a:spcPts val="2000"/>
              </a:spcBef>
              <a:buFont typeface="Arial"/>
              <a:buChar char="•"/>
            </a:pPr>
            <a:r>
              <a:rPr lang="en-US" sz="2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Priority is subjective: who gets the one free ambulance depends on how the emergency is described, not on a consistent, explainable measure of how sick each person is.</a:t>
            </a:r>
          </a:p>
          <a:p>
            <a:pPr marL="342900" indent="-342900" algn="l">
              <a:spcBef>
                <a:spcPts val="2000"/>
              </a:spcBef>
              <a:buFont typeface="Arial"/>
              <a:buChar char="•"/>
            </a:pPr>
            <a:r>
              <a:rPr lang="en-US" sz="2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The surveyed papers either place vehicles without looking at patient risk, or score patients without dispatching help. MediDispatch joins both: live vitals decide who is sent help first.</a:t>
            </a:r>
          </a:p>
        </p:txBody>
      </p:sp>
    </p:spTree>
    <p:extLst>
      <p:ext uri="{BB962C8B-B14F-4D97-AF65-F5344CB8AC3E}">
        <p14:creationId xmlns:p14="http://schemas.microsoft.com/office/powerpoint/2010/main" val="423649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85C44A5E-8EE2-1DED-281A-8DDC46EA1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875" y="238126"/>
            <a:ext cx="6771736" cy="591364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id="{906D895E-984D-7056-EECC-807B06BAE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l">
              <a:spcBef>
                <a:spcPts val="900"/>
              </a:spcBef>
              <a:buFont typeface="Arial"/>
              <a:buChar char="•"/>
            </a:pPr>
            <a:r>
              <a:rPr lang="en-US" sz="2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Turn live vitals into an explainable risk score and band (LOW to CRITICAL) using published early-warning methods such as NEWS2.</a:t>
            </a:r>
          </a:p>
          <a:p>
            <a:pPr marL="342900" indent="-342900" algn="l">
              <a:spcBef>
                <a:spcPts val="900"/>
              </a:spcBef>
              <a:buFont typeface="Arial"/>
              <a:buChar char="•"/>
            </a:pPr>
            <a:r>
              <a:rPr lang="en-US" sz="2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Keep a priority queue that re-ranks as patients improve or worsen.</a:t>
            </a:r>
          </a:p>
          <a:p>
            <a:pPr marL="342900" indent="-342900" algn="l">
              <a:spcBef>
                <a:spcPts val="900"/>
              </a:spcBef>
              <a:buFont typeface="Arial"/>
              <a:buChar char="•"/>
            </a:pPr>
            <a:r>
              <a:rPr lang="en-US" sz="2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Dispatch the nearest suitable unit, and claim it atomically so it is never sent twice.</a:t>
            </a:r>
          </a:p>
          <a:p>
            <a:pPr marL="342900" indent="-342900" algn="l">
              <a:spcBef>
                <a:spcPts val="900"/>
              </a:spcBef>
              <a:buFont typeface="Arial"/>
              <a:buChar char="•"/>
            </a:pPr>
            <a:r>
              <a:rPr lang="en-US" sz="2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Recover from failure: timeouts, breakdowns and signal loss put the case back in the queue and the next-best unit is sent.</a:t>
            </a:r>
          </a:p>
          <a:p>
            <a:pPr marL="342900" indent="-342900" algn="l">
              <a:spcBef>
                <a:spcPts val="900"/>
              </a:spcBef>
              <a:buFont typeface="Arial"/>
              <a:buChar char="•"/>
            </a:pPr>
            <a:r>
              <a:rPr lang="en-US" sz="2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Measure the time from deterioration to dispatch with a simulator of synthetic patients.</a:t>
            </a:r>
          </a:p>
          <a:p>
            <a:pPr marL="342900" indent="-342900" algn="l">
              <a:spcBef>
                <a:spcPts val="900"/>
              </a:spcBef>
              <a:buFont typeface="Arial"/>
              <a:buChar char="•"/>
            </a:pPr>
            <a:r>
              <a:rPr lang="en-US" sz="2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Stay safe by design: synthetic data only, explainable decisions, privacy and fairness built 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BBD214B4-976C-4FF6-D07D-62467C562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555" y="108730"/>
            <a:ext cx="6426680" cy="59136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 Specification</a:t>
            </a:r>
          </a:p>
        </p:txBody>
      </p:sp>
      <p:sp>
        <p:nvSpPr>
          <p:cNvPr id="6147" name="Card 1"/>
          <p:cNvSpPr/>
          <p:nvPr/>
        </p:nvSpPr>
        <p:spPr>
          <a:xfrm>
            <a:off x="396000" y="1000000"/>
            <a:ext cx="5575000" cy="2750000"/>
          </a:xfrm>
          <a:prstGeom prst="rect">
            <a:avLst/>
          </a:prstGeom>
          <a:noFill/>
          <a:ln w="15875">
            <a:solidFill>
              <a:srgbClr val="2F5597"/>
            </a:solidFill>
          </a:ln>
        </p:spPr>
        <p:txBody>
          <a:bodyPr rtlCol="0" anchor="t" wrap="square" lIns="91440" rIns="91440" tIns="45720" bIns="45720"/>
          <a:lstStyle/>
          <a:p>
            <a:pPr algn="ctr"/>
          </a:p>
        </p:txBody>
      </p:sp>
      <p:sp>
        <p:nvSpPr>
          <p:cNvPr id="6148" name="Card 1 header"/>
          <p:cNvSpPr/>
          <p:nvPr/>
        </p:nvSpPr>
        <p:spPr>
          <a:xfrm>
            <a:off x="396000" y="1000000"/>
            <a:ext cx="5575000" cy="4300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rtlCol="0" anchor="ctr" wrap="square" lIns="91440" rIns="91440" tIns="45720" bIns="45720"/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Functional requirements</a:t>
            </a:r>
          </a:p>
        </p:txBody>
      </p:sp>
      <p:sp>
        <p:nvSpPr>
          <p:cNvPr id="6149" name="Card 1 body"/>
          <p:cNvSpPr/>
          <p:nvPr/>
        </p:nvSpPr>
        <p:spPr>
          <a:xfrm>
            <a:off x="396000" y="1450000"/>
            <a:ext cx="5575000" cy="23000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91440" rIns="91440" tIns="45720" bIns="45720"/>
          <a:lstStyle/>
          <a:p>
            <a:pPr marL="342900" indent="-342900" algn="l">
              <a:spcBef>
                <a:spcPts val="300"/>
              </a:spcBef>
              <a:buFont typeface="Arial"/>
              <a:buChar char="•"/>
            </a:pPr>
            <a:r>
              <a:rPr lang="en-US" sz="18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Accept and validate vitals readings</a:t>
            </a:r>
          </a:p>
          <a:p>
            <a:pPr marL="342900" indent="-342900" algn="l">
              <a:spcBef>
                <a:spcPts val="300"/>
              </a:spcBef>
              <a:buFont typeface="Arial"/>
              <a:buChar char="•"/>
            </a:pPr>
            <a:r>
              <a:rPr lang="en-US" sz="18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Score risk and assign a band</a:t>
            </a:r>
          </a:p>
          <a:p>
            <a:pPr marL="342900" indent="-342900" algn="l">
              <a:spcBef>
                <a:spcPts val="300"/>
              </a:spcBef>
              <a:buFont typeface="Arial"/>
              <a:buChar char="•"/>
            </a:pPr>
            <a:r>
              <a:rPr lang="en-US" sz="18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Open, update and close cases</a:t>
            </a:r>
          </a:p>
          <a:p>
            <a:pPr marL="342900" indent="-342900" algn="l">
              <a:spcBef>
                <a:spcPts val="300"/>
              </a:spcBef>
              <a:buFont typeface="Arial"/>
              <a:buChar char="•"/>
            </a:pPr>
            <a:r>
              <a:rPr lang="en-US" sz="18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Queue by priority and re-rank</a:t>
            </a:r>
          </a:p>
          <a:p>
            <a:pPr marL="342900" indent="-342900" algn="l">
              <a:spcBef>
                <a:spcPts val="300"/>
              </a:spcBef>
              <a:buFont typeface="Arial"/>
              <a:buChar char="•"/>
            </a:pPr>
            <a:r>
              <a:rPr lang="en-US" sz="18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Dispatch the nearest suitable unit</a:t>
            </a:r>
          </a:p>
          <a:p>
            <a:pPr marL="342900" indent="-342900" algn="l">
              <a:spcBef>
                <a:spcPts val="300"/>
              </a:spcBef>
              <a:buFont typeface="Arial"/>
              <a:buChar char="•"/>
            </a:pPr>
            <a:r>
              <a:rPr lang="en-US" sz="18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Handle timeouts, breakdowns, signal loss</a:t>
            </a:r>
          </a:p>
          <a:p>
            <a:pPr marL="342900" indent="-342900" algn="l">
              <a:spcBef>
                <a:spcPts val="300"/>
              </a:spcBef>
              <a:buFont typeface="Arial"/>
              <a:buChar char="•"/>
            </a:pPr>
            <a:r>
              <a:rPr lang="en-US" sz="18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Publish an event for every change</a:t>
            </a:r>
          </a:p>
        </p:txBody>
      </p:sp>
      <p:sp>
        <p:nvSpPr>
          <p:cNvPr id="6150" name="Card 2"/>
          <p:cNvSpPr/>
          <p:nvPr/>
        </p:nvSpPr>
        <p:spPr>
          <a:xfrm>
            <a:off x="6221000" y="1000000"/>
            <a:ext cx="5575000" cy="2750000"/>
          </a:xfrm>
          <a:prstGeom prst="rect">
            <a:avLst/>
          </a:prstGeom>
          <a:noFill/>
          <a:ln w="15875">
            <a:solidFill>
              <a:srgbClr val="2F5597"/>
            </a:solidFill>
          </a:ln>
        </p:spPr>
        <p:txBody>
          <a:bodyPr rtlCol="0" anchor="t" wrap="square" lIns="91440" rIns="91440" tIns="45720" bIns="45720"/>
          <a:lstStyle/>
          <a:p>
            <a:pPr algn="ctr"/>
          </a:p>
        </p:txBody>
      </p:sp>
      <p:sp>
        <p:nvSpPr>
          <p:cNvPr id="6151" name="Card 2 header"/>
          <p:cNvSpPr/>
          <p:nvPr/>
        </p:nvSpPr>
        <p:spPr>
          <a:xfrm>
            <a:off x="6221000" y="1000000"/>
            <a:ext cx="5575000" cy="4300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rtlCol="0" anchor="ctr" wrap="square" lIns="91440" rIns="91440" tIns="45720" bIns="45720"/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Non-functional requirements</a:t>
            </a:r>
          </a:p>
        </p:txBody>
      </p:sp>
      <p:sp>
        <p:nvSpPr>
          <p:cNvPr id="6152" name="Card 2 body"/>
          <p:cNvSpPr/>
          <p:nvPr/>
        </p:nvSpPr>
        <p:spPr>
          <a:xfrm>
            <a:off x="6221000" y="1450000"/>
            <a:ext cx="5575000" cy="23000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91440" rIns="91440" tIns="45720" bIns="45720"/>
          <a:lstStyle/>
          <a:p>
            <a:pPr marL="342900" indent="-342900" algn="l">
              <a:spcBef>
                <a:spcPts val="300"/>
              </a:spcBef>
              <a:buFont typeface="Arial"/>
              <a:buChar char="•"/>
            </a:pPr>
            <a:r>
              <a:rPr lang="en-US" sz="18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Safe: one unit per case, even with 100 racing threads</a:t>
            </a:r>
          </a:p>
          <a:p>
            <a:pPr marL="342900" indent="-342900" algn="l">
              <a:spcBef>
                <a:spcPts val="300"/>
              </a:spcBef>
              <a:buFont typeface="Arial"/>
              <a:buChar char="•"/>
            </a:pPr>
            <a:r>
              <a:rPr lang="en-US" sz="18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Testable: injected clock, in-memory adapters</a:t>
            </a:r>
          </a:p>
          <a:p>
            <a:pPr marL="342900" indent="-342900" algn="l">
              <a:spcBef>
                <a:spcPts val="300"/>
              </a:spcBef>
              <a:buFont typeface="Arial"/>
              <a:buChar char="•"/>
            </a:pPr>
            <a:r>
              <a:rPr lang="en-US" sz="18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Explainable, auditable decisions</a:t>
            </a:r>
          </a:p>
          <a:p>
            <a:pPr marL="342900" indent="-342900" algn="l">
              <a:spcBef>
                <a:spcPts val="300"/>
              </a:spcBef>
              <a:buFont typeface="Arial"/>
              <a:buChar char="•"/>
            </a:pPr>
            <a:r>
              <a:rPr lang="en-US" sz="18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No lost cases: every failure requeues</a:t>
            </a:r>
          </a:p>
          <a:p>
            <a:pPr marL="342900" indent="-342900" algn="l">
              <a:spcBef>
                <a:spcPts val="300"/>
              </a:spcBef>
              <a:buFont typeface="Arial"/>
              <a:buChar char="•"/>
            </a:pPr>
            <a:r>
              <a:rPr lang="en-US" sz="18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Privacy, fairness, no alert flooding</a:t>
            </a:r>
          </a:p>
          <a:p>
            <a:pPr marL="342900" indent="-342900" algn="l">
              <a:spcBef>
                <a:spcPts val="300"/>
              </a:spcBef>
              <a:buFont typeface="Arial"/>
              <a:buChar char="•"/>
            </a:pPr>
            <a:r>
              <a:rPr lang="en-US" sz="18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Scalable design (Redis, Kafka, Kubernetes planned)</a:t>
            </a:r>
          </a:p>
        </p:txBody>
      </p:sp>
      <p:sp>
        <p:nvSpPr>
          <p:cNvPr id="6153" name="Card 3"/>
          <p:cNvSpPr/>
          <p:nvPr/>
        </p:nvSpPr>
        <p:spPr>
          <a:xfrm>
            <a:off x="396000" y="3950000"/>
            <a:ext cx="5575000" cy="2750000"/>
          </a:xfrm>
          <a:prstGeom prst="rect">
            <a:avLst/>
          </a:prstGeom>
          <a:noFill/>
          <a:ln w="15875">
            <a:solidFill>
              <a:srgbClr val="2F5597"/>
            </a:solidFill>
          </a:ln>
        </p:spPr>
        <p:txBody>
          <a:bodyPr rtlCol="0" anchor="t" wrap="square" lIns="91440" rIns="91440" tIns="45720" bIns="45720"/>
          <a:lstStyle/>
          <a:p>
            <a:pPr algn="ctr"/>
          </a:p>
        </p:txBody>
      </p:sp>
      <p:sp>
        <p:nvSpPr>
          <p:cNvPr id="6154" name="Card 3 header"/>
          <p:cNvSpPr/>
          <p:nvPr/>
        </p:nvSpPr>
        <p:spPr>
          <a:xfrm>
            <a:off x="396000" y="3950000"/>
            <a:ext cx="5575000" cy="4300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rtlCol="0" anchor="ctr" wrap="square" lIns="91440" rIns="91440" tIns="45720" bIns="45720"/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Hardware requirements</a:t>
            </a:r>
          </a:p>
        </p:txBody>
      </p:sp>
      <p:sp>
        <p:nvSpPr>
          <p:cNvPr id="6155" name="Card 3 body"/>
          <p:cNvSpPr/>
          <p:nvPr/>
        </p:nvSpPr>
        <p:spPr>
          <a:xfrm>
            <a:off x="396000" y="4400000"/>
            <a:ext cx="5575000" cy="23000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91440" rIns="91440" tIns="45720" bIns="45720"/>
          <a:lstStyle/>
          <a:p>
            <a:pPr marL="342900" indent="-342900" algn="l">
              <a:spcBef>
                <a:spcPts val="300"/>
              </a:spcBef>
              <a:buFont typeface="Arial"/>
              <a:buChar char="•"/>
            </a:pPr>
            <a:r>
              <a:rPr lang="en-US" sz="18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Laptop or PC, 8 GB RAM recommended</a:t>
            </a:r>
          </a:p>
          <a:p>
            <a:pPr marL="342900" indent="-342900" algn="l">
              <a:spcBef>
                <a:spcPts val="300"/>
              </a:spcBef>
              <a:buFont typeface="Arial"/>
              <a:buChar char="•"/>
            </a:pPr>
            <a:r>
              <a:rPr lang="en-US" sz="18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No special hardware: wearables and ambulances are simulated</a:t>
            </a:r>
          </a:p>
          <a:p>
            <a:pPr marL="342900" indent="-342900" algn="l">
              <a:spcBef>
                <a:spcPts val="300"/>
              </a:spcBef>
              <a:buFont typeface="Arial"/>
              <a:buChar char="•"/>
            </a:pPr>
            <a:r>
              <a:rPr lang="en-US" sz="18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Planned: Docker and Kubernetes (kind or minikube) for deployment</a:t>
            </a:r>
          </a:p>
        </p:txBody>
      </p:sp>
      <p:sp>
        <p:nvSpPr>
          <p:cNvPr id="6156" name="Card 4"/>
          <p:cNvSpPr/>
          <p:nvPr/>
        </p:nvSpPr>
        <p:spPr>
          <a:xfrm>
            <a:off x="6221000" y="3950000"/>
            <a:ext cx="5575000" cy="2750000"/>
          </a:xfrm>
          <a:prstGeom prst="rect">
            <a:avLst/>
          </a:prstGeom>
          <a:noFill/>
          <a:ln w="15875">
            <a:solidFill>
              <a:srgbClr val="2F5597"/>
            </a:solidFill>
          </a:ln>
        </p:spPr>
        <p:txBody>
          <a:bodyPr rtlCol="0" anchor="t" wrap="square" lIns="91440" rIns="91440" tIns="45720" bIns="45720"/>
          <a:lstStyle/>
          <a:p>
            <a:pPr algn="ctr"/>
          </a:p>
        </p:txBody>
      </p:sp>
      <p:sp>
        <p:nvSpPr>
          <p:cNvPr id="6157" name="Card 4 header"/>
          <p:cNvSpPr/>
          <p:nvPr/>
        </p:nvSpPr>
        <p:spPr>
          <a:xfrm>
            <a:off x="6221000" y="3950000"/>
            <a:ext cx="5575000" cy="4300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rtlCol="0" anchor="ctr" wrap="square" lIns="91440" rIns="91440" tIns="45720" bIns="45720"/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Software requirements</a:t>
            </a:r>
          </a:p>
        </p:txBody>
      </p:sp>
      <p:sp>
        <p:nvSpPr>
          <p:cNvPr id="6158" name="Card 4 body"/>
          <p:cNvSpPr/>
          <p:nvPr/>
        </p:nvSpPr>
        <p:spPr>
          <a:xfrm>
            <a:off x="6221000" y="4400000"/>
            <a:ext cx="5575000" cy="23000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91440" rIns="91440" tIns="45720" bIns="45720"/>
          <a:lstStyle/>
          <a:p>
            <a:pPr marL="342900" indent="-342900" algn="l">
              <a:spcBef>
                <a:spcPts val="300"/>
              </a:spcBef>
              <a:buFont typeface="Arial"/>
              <a:buChar char="•"/>
            </a:pPr>
            <a:r>
              <a:rPr lang="en-US" sz="18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Java 21 (JDK) and Maven</a:t>
            </a:r>
          </a:p>
          <a:p>
            <a:pPr marL="342900" indent="-342900" algn="l">
              <a:spcBef>
                <a:spcPts val="300"/>
              </a:spcBef>
              <a:buFont typeface="Arial"/>
              <a:buChar char="•"/>
            </a:pPr>
            <a:r>
              <a:rPr lang="en-US" sz="18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JUnit 5 for testing; IntelliJ IDEA; Git</a:t>
            </a:r>
          </a:p>
          <a:p>
            <a:pPr marL="342900" indent="-342900" algn="l">
              <a:spcBef>
                <a:spcPts val="300"/>
              </a:spcBef>
              <a:buFont typeface="Arial"/>
              <a:buChar char="•"/>
            </a:pPr>
            <a:r>
              <a:rPr lang="en-US" sz="18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Planned: Spring Boot, PostgreSQL, Redis, Kafka</a:t>
            </a:r>
          </a:p>
          <a:p>
            <a:pPr marL="342900" indent="-342900" algn="l">
              <a:spcBef>
                <a:spcPts val="300"/>
              </a:spcBef>
              <a:buFont typeface="Arial"/>
              <a:buChar char="•"/>
            </a:pPr>
            <a:r>
              <a:rPr lang="en-US" sz="18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Planned: Docker, Prometheus, Grafana, k6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A18F5363-F392-C9E2-AE43-E4F6C906F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1132" y="238126"/>
            <a:ext cx="10092267" cy="591364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Design: System Architecture</a:t>
            </a:r>
          </a:p>
        </p:txBody>
      </p:sp>
      <p:sp>
        <p:nvSpPr>
          <p:cNvPr id="7171" name="Adapters label"/>
          <p:cNvSpPr/>
          <p:nvPr/>
        </p:nvSpPr>
        <p:spPr>
          <a:xfrm>
            <a:off x="396000" y="960000"/>
            <a:ext cx="11400000" cy="3000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91440" rIns="91440" tIns="45720" bIns="45720"/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Adapters (plug in from outside)</a:t>
            </a:r>
          </a:p>
        </p:txBody>
      </p:sp>
      <p:sp>
        <p:nvSpPr>
          <p:cNvPr id="7172" name="Adapter 1"/>
          <p:cNvSpPr/>
          <p:nvPr/>
        </p:nvSpPr>
        <p:spPr>
          <a:xfrm>
            <a:off x="396000" y="1270000"/>
            <a:ext cx="2100000" cy="7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dash"/>
          </a:ln>
        </p:spPr>
        <p:txBody>
          <a:bodyPr rtlCol="0" anchor="ctr" wrap="square" lIns="91440" rIns="91440" tIns="45720" bIns="45720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REST API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1200" b="0" i="0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calls the engine</a:t>
            </a:r>
          </a:p>
        </p:txBody>
      </p:sp>
      <p:cxnSp>
        <p:nvCxnSpPr>
          <p:cNvPr id="7173" name="Connector 7172"/>
          <p:cNvCxnSpPr/>
          <p:nvPr/>
        </p:nvCxnSpPr>
        <p:spPr>
          <a:xfrm>
            <a:off x="1446000" y="1970000"/>
            <a:ext cx="0" cy="36000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</p:cxnSp>
      <p:sp>
        <p:nvSpPr>
          <p:cNvPr id="7174" name="Adapter 2"/>
          <p:cNvSpPr/>
          <p:nvPr/>
        </p:nvSpPr>
        <p:spPr>
          <a:xfrm>
            <a:off x="2721000" y="1270000"/>
            <a:ext cx="2100000" cy="7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dash"/>
          </a:ln>
        </p:spPr>
        <p:txBody>
          <a:bodyPr rtlCol="0" anchor="ctr" wrap="square" lIns="91440" rIns="91440" tIns="45720" bIns="45720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Redis adapters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1200" b="0" i="0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queue, geo, claims</a:t>
            </a:r>
          </a:p>
        </p:txBody>
      </p:sp>
      <p:cxnSp>
        <p:nvCxnSpPr>
          <p:cNvPr id="7175" name="Connector 7174"/>
          <p:cNvCxnSpPr/>
          <p:nvPr/>
        </p:nvCxnSpPr>
        <p:spPr>
          <a:xfrm>
            <a:off x="3771000" y="1970000"/>
            <a:ext cx="0" cy="36000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</p:cxnSp>
      <p:sp>
        <p:nvSpPr>
          <p:cNvPr id="7176" name="Adapter 3"/>
          <p:cNvSpPr/>
          <p:nvPr/>
        </p:nvSpPr>
        <p:spPr>
          <a:xfrm>
            <a:off x="5046000" y="1270000"/>
            <a:ext cx="2100000" cy="7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dash"/>
          </a:ln>
        </p:spPr>
        <p:txBody>
          <a:bodyPr rtlCol="0" anchor="ctr" wrap="square" lIns="91440" rIns="91440" tIns="45720" bIns="45720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Postgres adapters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1200" b="0" i="0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patients, cases</a:t>
            </a:r>
          </a:p>
        </p:txBody>
      </p:sp>
      <p:cxnSp>
        <p:nvCxnSpPr>
          <p:cNvPr id="7177" name="Connector 7176"/>
          <p:cNvCxnSpPr/>
          <p:nvPr/>
        </p:nvCxnSpPr>
        <p:spPr>
          <a:xfrm>
            <a:off x="6096000" y="1970000"/>
            <a:ext cx="0" cy="36000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</p:cxnSp>
      <p:sp>
        <p:nvSpPr>
          <p:cNvPr id="7178" name="Adapter 4"/>
          <p:cNvSpPr/>
          <p:nvPr/>
        </p:nvSpPr>
        <p:spPr>
          <a:xfrm>
            <a:off x="7371000" y="1270000"/>
            <a:ext cx="2100000" cy="7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dash"/>
          </a:ln>
        </p:spPr>
        <p:txBody>
          <a:bodyPr rtlCol="0" anchor="ctr" wrap="square" lIns="91440" rIns="91440" tIns="45720" bIns="45720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Kafka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1200" b="0" i="0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event publisher</a:t>
            </a:r>
          </a:p>
        </p:txBody>
      </p:sp>
      <p:cxnSp>
        <p:nvCxnSpPr>
          <p:cNvPr id="7179" name="Connector 7178"/>
          <p:cNvCxnSpPr/>
          <p:nvPr/>
        </p:nvCxnSpPr>
        <p:spPr>
          <a:xfrm>
            <a:off x="8421000" y="1970000"/>
            <a:ext cx="0" cy="36000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</p:cxnSp>
      <p:sp>
        <p:nvSpPr>
          <p:cNvPr id="7180" name="Adapter 5"/>
          <p:cNvSpPr/>
          <p:nvPr/>
        </p:nvSpPr>
        <p:spPr>
          <a:xfrm>
            <a:off x="9696000" y="1270000"/>
            <a:ext cx="2100000" cy="700000"/>
          </a:xfrm>
          <a:prstGeom prst="rect">
            <a:avLst/>
          </a:prstGeom>
          <a:solidFill>
            <a:srgbClr val="2F5597"/>
          </a:solidFill>
          <a:ln w="19050">
            <a:solidFill>
              <a:srgbClr val="2F5597"/>
            </a:solidFill>
          </a:ln>
        </p:spPr>
        <p:txBody>
          <a:bodyPr rtlCol="0" anchor="ctr" wrap="square" lIns="91440" rIns="91440" tIns="45720" bIns="45720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In-memory adapters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12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tests and simulator</a:t>
            </a:r>
          </a:p>
        </p:txBody>
      </p:sp>
      <p:cxnSp>
        <p:nvCxnSpPr>
          <p:cNvPr id="7181" name="Connector 7180"/>
          <p:cNvCxnSpPr/>
          <p:nvPr/>
        </p:nvCxnSpPr>
        <p:spPr>
          <a:xfrm>
            <a:off x="10746000" y="1970000"/>
            <a:ext cx="0" cy="36000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</p:cxnSp>
      <p:sp>
        <p:nvSpPr>
          <p:cNvPr id="7182" name="Core container"/>
          <p:cNvSpPr/>
          <p:nvPr/>
        </p:nvSpPr>
        <p:spPr>
          <a:xfrm>
            <a:off x="396000" y="2330000"/>
            <a:ext cx="11400000" cy="3750000"/>
          </a:xfrm>
          <a:prstGeom prst="roundRect">
            <a:avLst>
              <a:gd name="adj" fmla="val 3000"/>
            </a:avLst>
          </a:prstGeom>
          <a:solidFill>
            <a:srgbClr val="FBF3F3"/>
          </a:solidFill>
          <a:ln w="25400">
            <a:solidFill>
              <a:srgbClr val="C00000"/>
            </a:solidFill>
          </a:ln>
        </p:spPr>
        <p:txBody>
          <a:bodyPr rtlCol="0" anchor="t" wrap="square" lIns="91440" rIns="91440" tIns="45720" bIns="45720"/>
          <a:lstStyle/>
          <a:p>
            <a:pPr algn="ctr"/>
          </a:p>
        </p:txBody>
      </p:sp>
      <p:sp>
        <p:nvSpPr>
          <p:cNvPr id="7183" name="Core label"/>
          <p:cNvSpPr/>
          <p:nvPr/>
        </p:nvSpPr>
        <p:spPr>
          <a:xfrm>
            <a:off x="496000" y="2380000"/>
            <a:ext cx="11200000" cy="3300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91440" rIns="91440" tIns="45720" bIns="45720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dispatch-core (pure Java: no Spring, JPA, Redis or Kafka)</a:t>
            </a:r>
          </a:p>
        </p:txBody>
      </p:sp>
      <p:sp>
        <p:nvSpPr>
          <p:cNvPr id="7184" name="Core Domain"/>
          <p:cNvSpPr/>
          <p:nvPr/>
        </p:nvSpPr>
        <p:spPr>
          <a:xfrm>
            <a:off x="546000" y="2780000"/>
            <a:ext cx="3400000" cy="32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5597"/>
            </a:solidFill>
          </a:ln>
        </p:spPr>
        <p:txBody>
          <a:bodyPr rtlCol="0" anchor="t" wrap="square" lIns="91440" rIns="91440" tIns="45720" bIns="45720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1800" b="1" i="0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Domain</a:t>
            </a:r>
          </a:p>
          <a:p>
            <a:pPr marL="0" indent="0" algn="l">
              <a:spcBef>
                <a:spcPts val="100"/>
              </a:spcBef>
              <a:buNone/>
            </a:pPr>
            <a:r>
              <a:rPr lang="en-US" sz="15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Case, CaseStatus</a:t>
            </a:r>
          </a:p>
          <a:p>
            <a:pPr marL="0" indent="0" algn="l">
              <a:spcBef>
                <a:spcPts val="100"/>
              </a:spcBef>
              <a:buNone/>
            </a:pPr>
            <a:r>
              <a:rPr lang="en-US" sz="15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Resource, ResourceStatus</a:t>
            </a:r>
          </a:p>
          <a:p>
            <a:pPr marL="0" indent="0" algn="l">
              <a:spcBef>
                <a:spcPts val="100"/>
              </a:spcBef>
              <a:buNone/>
            </a:pPr>
            <a:r>
              <a:rPr lang="en-US" sz="15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Assignment, AssignmentStatus</a:t>
            </a:r>
          </a:p>
          <a:p>
            <a:pPr marL="0" indent="0" algn="l">
              <a:spcBef>
                <a:spcPts val="100"/>
              </a:spcBef>
              <a:buNone/>
            </a:pPr>
            <a:r>
              <a:rPr lang="en-US" sz="15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Patient, Location</a:t>
            </a:r>
          </a:p>
          <a:p>
            <a:pPr marL="0" indent="0" algn="l">
              <a:spcBef>
                <a:spcPts val="100"/>
              </a:spcBef>
              <a:buNone/>
            </a:pPr>
            <a:r>
              <a:rPr lang="en-US" sz="15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VitalsReading, RiskAssessment</a:t>
            </a:r>
          </a:p>
          <a:p>
            <a:pPr marL="0" indent="0" algn="l">
              <a:spcBef>
                <a:spcPts val="100"/>
              </a:spcBef>
              <a:buNone/>
            </a:pPr>
            <a:r>
              <a:rPr lang="en-US" sz="15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RiskScorer (SimpleScorer)</a:t>
            </a:r>
          </a:p>
          <a:p>
            <a:pPr marL="0" indent="0" algn="l">
              <a:spcBef>
                <a:spcPts val="100"/>
              </a:spcBef>
              <a:buNone/>
            </a:pPr>
            <a:r>
              <a:rPr lang="en-US" sz="15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Events (4 records)</a:t>
            </a:r>
          </a:p>
        </p:txBody>
      </p:sp>
      <p:sp>
        <p:nvSpPr>
          <p:cNvPr id="7185" name="Core Engine"/>
          <p:cNvSpPr/>
          <p:nvPr/>
        </p:nvSpPr>
        <p:spPr>
          <a:xfrm>
            <a:off x="4246000" y="2780000"/>
            <a:ext cx="3500000" cy="32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5597"/>
            </a:solidFill>
          </a:ln>
        </p:spPr>
        <p:txBody>
          <a:bodyPr rtlCol="0" anchor="t" wrap="square" lIns="91440" rIns="91440" tIns="45720" bIns="45720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1800" b="1" i="0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Engine</a:t>
            </a:r>
          </a:p>
          <a:p>
            <a:pPr marL="0" indent="0" algn="l">
              <a:spcBef>
                <a:spcPts val="100"/>
              </a:spcBef>
              <a:buNone/>
            </a:pPr>
            <a:r>
              <a:rPr lang="en-US" sz="15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Dispatcher</a:t>
            </a:r>
          </a:p>
          <a:p>
            <a:pPr marL="0" indent="0" algn="l">
              <a:spcBef>
                <a:spcPts val="100"/>
              </a:spcBef>
              <a:buNone/>
            </a:pPr>
            <a:r>
              <a:rPr lang="en-US" sz="15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CaseManager</a:t>
            </a:r>
          </a:p>
          <a:p>
            <a:pPr marL="0" indent="0" algn="l">
              <a:spcBef>
                <a:spcPts val="100"/>
              </a:spcBef>
              <a:buNone/>
            </a:pPr>
            <a:r>
              <a:rPr lang="en-US" sz="15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AssignmentManager</a:t>
            </a:r>
          </a:p>
          <a:p>
            <a:pPr marL="0" indent="0" algn="l">
              <a:spcBef>
                <a:spcPts val="100"/>
              </a:spcBef>
              <a:buNone/>
            </a:pPr>
            <a:r>
              <a:rPr lang="en-US" sz="15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TimeoutMonitor</a:t>
            </a:r>
          </a:p>
          <a:p>
            <a:pPr marL="0" indent="0" algn="l">
              <a:spcBef>
                <a:spcPts val="100"/>
              </a:spcBef>
              <a:buNone/>
            </a:pPr>
            <a:r>
              <a:rPr lang="en-US" sz="15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TripMonitor</a:t>
            </a:r>
          </a:p>
          <a:p>
            <a:pPr marL="0" indent="0" algn="l">
              <a:spcBef>
                <a:spcPts val="100"/>
              </a:spcBef>
              <a:buNone/>
            </a:pPr>
            <a:r>
              <a:rPr lang="en-US" sz="15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UnitTracker</a:t>
            </a:r>
          </a:p>
          <a:p>
            <a:pPr marL="0" indent="0" algn="l">
              <a:spcBef>
                <a:spcPts val="100"/>
              </a:spcBef>
              <a:buNone/>
            </a:pPr>
            <a:r>
              <a:rPr lang="en-US" sz="15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ResponseRecovery</a:t>
            </a:r>
          </a:p>
        </p:txBody>
      </p:sp>
      <p:sp>
        <p:nvSpPr>
          <p:cNvPr id="7186" name="Core Ports (interfaces)"/>
          <p:cNvSpPr/>
          <p:nvPr/>
        </p:nvSpPr>
        <p:spPr>
          <a:xfrm>
            <a:off x="8046000" y="2780000"/>
            <a:ext cx="3600000" cy="32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5597"/>
            </a:solidFill>
          </a:ln>
        </p:spPr>
        <p:txBody>
          <a:bodyPr rtlCol="0" anchor="t" wrap="square" lIns="91440" rIns="91440" tIns="45720" bIns="45720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1800" b="1" i="0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Ports (interfaces)</a:t>
            </a:r>
          </a:p>
          <a:p>
            <a:pPr marL="0" indent="0" algn="l">
              <a:spcBef>
                <a:spcPts val="100"/>
              </a:spcBef>
              <a:buNone/>
            </a:pPr>
            <a:r>
              <a:rPr lang="en-US" sz="15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CaseQueue</a:t>
            </a:r>
          </a:p>
          <a:p>
            <a:pPr marL="0" indent="0" algn="l">
              <a:spcBef>
                <a:spcPts val="100"/>
              </a:spcBef>
              <a:buNone/>
            </a:pPr>
            <a:r>
              <a:rPr lang="en-US" sz="15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ResourceRepository</a:t>
            </a:r>
          </a:p>
          <a:p>
            <a:pPr marL="0" indent="0" algn="l">
              <a:spcBef>
                <a:spcPts val="100"/>
              </a:spcBef>
              <a:buNone/>
            </a:pPr>
            <a:r>
              <a:rPr lang="en-US" sz="15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ResourceClaimer</a:t>
            </a:r>
          </a:p>
          <a:p>
            <a:pPr marL="0" indent="0" algn="l">
              <a:spcBef>
                <a:spcPts val="100"/>
              </a:spcBef>
              <a:buNone/>
            </a:pPr>
            <a:r>
              <a:rPr lang="en-US" sz="15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PatientRepository</a:t>
            </a:r>
          </a:p>
          <a:p>
            <a:pPr marL="0" indent="0" algn="l">
              <a:spcBef>
                <a:spcPts val="100"/>
              </a:spcBef>
              <a:buNone/>
            </a:pPr>
            <a:r>
              <a:rPr lang="en-US" sz="15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CaseRepository</a:t>
            </a:r>
          </a:p>
          <a:p>
            <a:pPr marL="0" indent="0" algn="l">
              <a:spcBef>
                <a:spcPts val="100"/>
              </a:spcBef>
              <a:buNone/>
            </a:pPr>
            <a:r>
              <a:rPr lang="en-US" sz="15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AssignmentRepository</a:t>
            </a:r>
          </a:p>
          <a:p>
            <a:pPr marL="0" indent="0" algn="l">
              <a:spcBef>
                <a:spcPts val="100"/>
              </a:spcBef>
              <a:buNone/>
            </a:pPr>
            <a:r>
              <a:rPr lang="en-US" sz="15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EventPublisher</a:t>
            </a:r>
          </a:p>
        </p:txBody>
      </p:sp>
      <p:cxnSp>
        <p:nvCxnSpPr>
          <p:cNvPr id="7187" name="Connector 7186"/>
          <p:cNvCxnSpPr/>
          <p:nvPr/>
        </p:nvCxnSpPr>
        <p:spPr>
          <a:xfrm flipH="1">
            <a:off x="3946000" y="4380000"/>
            <a:ext cx="300000" cy="0"/>
          </a:xfrm>
          <a:prstGeom prst="line">
            <a:avLst/>
          </a:prstGeom>
          <a:ln w="25400">
            <a:solidFill>
              <a:srgbClr val="2F5597"/>
            </a:solidFill>
            <a:tailEnd type="triangle" w="med" len="med"/>
          </a:ln>
        </p:spPr>
      </p:cxnSp>
      <p:cxnSp>
        <p:nvCxnSpPr>
          <p:cNvPr id="7188" name="Connector 7187"/>
          <p:cNvCxnSpPr/>
          <p:nvPr/>
        </p:nvCxnSpPr>
        <p:spPr>
          <a:xfrm>
            <a:off x="7746000" y="4380000"/>
            <a:ext cx="300000" cy="0"/>
          </a:xfrm>
          <a:prstGeom prst="line">
            <a:avLst/>
          </a:prstGeom>
          <a:ln w="25400">
            <a:solidFill>
              <a:srgbClr val="2F5597"/>
            </a:solidFill>
            <a:tailEnd type="triangle" w="med" len="med"/>
          </a:ln>
        </p:spPr>
      </p:cxnSp>
      <p:sp>
        <p:nvSpPr>
          <p:cNvPr id="7189" name="Legend"/>
          <p:cNvSpPr/>
          <p:nvPr/>
        </p:nvSpPr>
        <p:spPr>
          <a:xfrm>
            <a:off x="396000" y="6130000"/>
            <a:ext cx="11400000" cy="3300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91440" rIns="91440" tIns="45720" bIns="45720"/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300" b="1" i="0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Solid = built and tested   </a:t>
            </a:r>
            <a:r>
              <a:rPr lang="en-US" sz="1300" b="1" i="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Dashed = planned   </a:t>
            </a:r>
            <a:r>
              <a:rPr lang="en-US" sz="1300" b="0" i="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The engine imports ports and domain only, never an adapter.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A18F5363-F392-C9E2-AE43-E4F6C906F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1132" y="238126"/>
            <a:ext cx="10092267" cy="591364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Design: Event Flow</a:t>
            </a:r>
          </a:p>
        </p:txBody>
      </p:sp>
      <p:sp>
        <p:nvSpPr>
          <p:cNvPr id="7171" name="Step 1"/>
          <p:cNvSpPr/>
          <p:nvPr/>
        </p:nvSpPr>
        <p:spPr>
          <a:xfrm>
            <a:off x="396000" y="1100000"/>
            <a:ext cx="1950000" cy="9500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rtlCol="0" anchor="ctr" wrap="square" lIns="91440" rIns="91440" tIns="45720" bIns="45720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15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1  Vitals reading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lang="en-US" sz="13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wearable or simulator</a:t>
            </a:r>
          </a:p>
        </p:txBody>
      </p:sp>
      <p:cxnSp>
        <p:nvCxnSpPr>
          <p:cNvPr id="7172" name="Connector 7171"/>
          <p:cNvCxnSpPr/>
          <p:nvPr/>
        </p:nvCxnSpPr>
        <p:spPr>
          <a:xfrm>
            <a:off x="2346000" y="1575000"/>
            <a:ext cx="41250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</p:cxnSp>
      <p:sp>
        <p:nvSpPr>
          <p:cNvPr id="7173" name="Step 2"/>
          <p:cNvSpPr/>
          <p:nvPr/>
        </p:nvSpPr>
        <p:spPr>
          <a:xfrm>
            <a:off x="2758500" y="1100000"/>
            <a:ext cx="1950000" cy="9500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rtlCol="0" anchor="ctr" wrap="square" lIns="91440" rIns="91440" tIns="45720" bIns="45720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15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2  Validate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lang="en-US" sz="13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reject bad readings</a:t>
            </a:r>
          </a:p>
        </p:txBody>
      </p:sp>
      <p:cxnSp>
        <p:nvCxnSpPr>
          <p:cNvPr id="7174" name="Connector 7173"/>
          <p:cNvCxnSpPr/>
          <p:nvPr/>
        </p:nvCxnSpPr>
        <p:spPr>
          <a:xfrm>
            <a:off x="4708500" y="1575000"/>
            <a:ext cx="41250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</p:cxnSp>
      <p:sp>
        <p:nvSpPr>
          <p:cNvPr id="7175" name="Step 3"/>
          <p:cNvSpPr/>
          <p:nvPr/>
        </p:nvSpPr>
        <p:spPr>
          <a:xfrm>
            <a:off x="5121000" y="1100000"/>
            <a:ext cx="1950000" cy="9500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rtlCol="0" anchor="ctr" wrap="square" lIns="91440" rIns="91440" tIns="45720" bIns="45720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15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3  Risk scorer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lang="en-US" sz="13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score, band, reasons</a:t>
            </a:r>
          </a:p>
        </p:txBody>
      </p:sp>
      <p:cxnSp>
        <p:nvCxnSpPr>
          <p:cNvPr id="7176" name="Connector 7175"/>
          <p:cNvCxnSpPr/>
          <p:nvPr/>
        </p:nvCxnSpPr>
        <p:spPr>
          <a:xfrm>
            <a:off x="7071000" y="1575000"/>
            <a:ext cx="41250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</p:cxnSp>
      <p:sp>
        <p:nvSpPr>
          <p:cNvPr id="7177" name="Step 4"/>
          <p:cNvSpPr/>
          <p:nvPr/>
        </p:nvSpPr>
        <p:spPr>
          <a:xfrm>
            <a:off x="7483500" y="1100000"/>
            <a:ext cx="1950000" cy="9500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rtlCol="0" anchor="ctr" wrap="square" lIns="91440" rIns="91440" tIns="45720" bIns="45720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15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4  Case manager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lang="en-US" sz="13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open or update the case</a:t>
            </a:r>
          </a:p>
        </p:txBody>
      </p:sp>
      <p:cxnSp>
        <p:nvCxnSpPr>
          <p:cNvPr id="7178" name="Connector 7177"/>
          <p:cNvCxnSpPr/>
          <p:nvPr/>
        </p:nvCxnSpPr>
        <p:spPr>
          <a:xfrm>
            <a:off x="9433500" y="1575000"/>
            <a:ext cx="41250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</p:cxnSp>
      <p:sp>
        <p:nvSpPr>
          <p:cNvPr id="7179" name="Step 5"/>
          <p:cNvSpPr/>
          <p:nvPr/>
        </p:nvSpPr>
        <p:spPr>
          <a:xfrm>
            <a:off x="9846000" y="1100000"/>
            <a:ext cx="1950000" cy="9500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rtlCol="0" anchor="ctr" wrap="square" lIns="91440" rIns="91440" tIns="45720" bIns="45720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15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5  Priority queue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lang="en-US" sz="13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re-ranks as risk changes</a:t>
            </a:r>
          </a:p>
        </p:txBody>
      </p:sp>
      <p:sp>
        <p:nvSpPr>
          <p:cNvPr id="7180" name="Step 6"/>
          <p:cNvSpPr/>
          <p:nvPr/>
        </p:nvSpPr>
        <p:spPr>
          <a:xfrm>
            <a:off x="9846000" y="2850000"/>
            <a:ext cx="1950000" cy="950000"/>
          </a:xfrm>
          <a:prstGeom prst="rect">
            <a:avLst/>
          </a:prstGeom>
          <a:solidFill>
            <a:srgbClr val="DAE3F3"/>
          </a:solidFill>
          <a:ln w="15875">
            <a:solidFill>
              <a:srgbClr val="2F5597"/>
            </a:solidFill>
          </a:ln>
        </p:spPr>
        <p:txBody>
          <a:bodyPr rtlCol="0" anchor="ctr" wrap="square" lIns="91440" rIns="91440" tIns="45720" bIns="45720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15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6  Dispatcher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lang="en-US" sz="12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nearest suitable unit, atomic claim</a:t>
            </a:r>
          </a:p>
        </p:txBody>
      </p:sp>
      <p:sp>
        <p:nvSpPr>
          <p:cNvPr id="7181" name="Step 7"/>
          <p:cNvSpPr/>
          <p:nvPr/>
        </p:nvSpPr>
        <p:spPr>
          <a:xfrm>
            <a:off x="7483500" y="2850000"/>
            <a:ext cx="1950000" cy="950000"/>
          </a:xfrm>
          <a:prstGeom prst="rect">
            <a:avLst/>
          </a:prstGeom>
          <a:solidFill>
            <a:srgbClr val="DAE3F3"/>
          </a:solidFill>
          <a:ln w="15875">
            <a:solidFill>
              <a:srgbClr val="2F5597"/>
            </a:solidFill>
          </a:ln>
        </p:spPr>
        <p:txBody>
          <a:bodyPr rtlCol="0" anchor="ctr" wrap="square" lIns="91440" rIns="91440" tIns="45720" bIns="45720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15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7  Assignment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lang="en-US" sz="12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ASSIGNED, EN_ROUTE, ARRIVED, DONE</a:t>
            </a:r>
          </a:p>
        </p:txBody>
      </p:sp>
      <p:sp>
        <p:nvSpPr>
          <p:cNvPr id="7182" name="Step 8"/>
          <p:cNvSpPr/>
          <p:nvPr/>
        </p:nvSpPr>
        <p:spPr>
          <a:xfrm>
            <a:off x="5121000" y="2850000"/>
            <a:ext cx="1950000" cy="950000"/>
          </a:xfrm>
          <a:prstGeom prst="rect">
            <a:avLst/>
          </a:prstGeom>
          <a:solidFill>
            <a:srgbClr val="DAE3F3"/>
          </a:solidFill>
          <a:ln w="15875">
            <a:solidFill>
              <a:srgbClr val="2F5597"/>
            </a:solidFill>
          </a:ln>
        </p:spPr>
        <p:txBody>
          <a:bodyPr rtlCol="0" anchor="ctr" wrap="square" lIns="91440" rIns="91440" tIns="45720" bIns="45720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15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8  Unit monitored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lang="en-US" sz="12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acknowledge, position reports</a:t>
            </a:r>
          </a:p>
        </p:txBody>
      </p:sp>
      <p:sp>
        <p:nvSpPr>
          <p:cNvPr id="7183" name="Step 9"/>
          <p:cNvSpPr/>
          <p:nvPr/>
        </p:nvSpPr>
        <p:spPr>
          <a:xfrm>
            <a:off x="2758500" y="2850000"/>
            <a:ext cx="1950000" cy="950000"/>
          </a:xfrm>
          <a:prstGeom prst="rect">
            <a:avLst/>
          </a:prstGeom>
          <a:solidFill>
            <a:srgbClr val="DAE3F3"/>
          </a:solidFill>
          <a:ln w="15875">
            <a:solidFill>
              <a:srgbClr val="2F5597"/>
            </a:solidFill>
          </a:ln>
        </p:spPr>
        <p:txBody>
          <a:bodyPr rtlCol="0" anchor="ctr" wrap="square" lIns="91440" rIns="91440" tIns="45720" bIns="45720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15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9  Case closed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lang="en-US" sz="12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unit freed, next patient served</a:t>
            </a:r>
          </a:p>
        </p:txBody>
      </p:sp>
      <p:cxnSp>
        <p:nvCxnSpPr>
          <p:cNvPr id="7184" name="Connector 7183"/>
          <p:cNvCxnSpPr/>
          <p:nvPr/>
        </p:nvCxnSpPr>
        <p:spPr>
          <a:xfrm>
            <a:off x="10821000" y="2050000"/>
            <a:ext cx="0" cy="80000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</p:cxnSp>
      <p:cxnSp>
        <p:nvCxnSpPr>
          <p:cNvPr id="7185" name="Connector 7184"/>
          <p:cNvCxnSpPr/>
          <p:nvPr/>
        </p:nvCxnSpPr>
        <p:spPr>
          <a:xfrm flipH="1">
            <a:off x="9433500" y="3325000"/>
            <a:ext cx="41250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</p:cxnSp>
      <p:cxnSp>
        <p:nvCxnSpPr>
          <p:cNvPr id="7186" name="Connector 7185"/>
          <p:cNvCxnSpPr/>
          <p:nvPr/>
        </p:nvCxnSpPr>
        <p:spPr>
          <a:xfrm flipH="1">
            <a:off x="7071000" y="3325000"/>
            <a:ext cx="41250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</p:cxnSp>
      <p:cxnSp>
        <p:nvCxnSpPr>
          <p:cNvPr id="7187" name="Connector 7186"/>
          <p:cNvCxnSpPr/>
          <p:nvPr/>
        </p:nvCxnSpPr>
        <p:spPr>
          <a:xfrm flipH="1">
            <a:off x="4708500" y="3325000"/>
            <a:ext cx="41250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</p:cxnSp>
      <p:sp>
        <p:nvSpPr>
          <p:cNvPr id="7188" name="Failure path"/>
          <p:cNvSpPr/>
          <p:nvPr/>
        </p:nvSpPr>
        <p:spPr>
          <a:xfrm>
            <a:off x="5121000" y="4300000"/>
            <a:ext cx="6675000" cy="950000"/>
          </a:xfrm>
          <a:prstGeom prst="rect">
            <a:avLst/>
          </a:prstGeom>
          <a:solidFill>
            <a:srgbClr val="FBF3F3"/>
          </a:solidFill>
          <a:ln w="19050">
            <a:solidFill>
              <a:srgbClr val="C00000"/>
            </a:solidFill>
          </a:ln>
        </p:spPr>
        <p:txBody>
          <a:bodyPr rtlCol="0" anchor="ctr" wrap="square" lIns="91440" rIns="91440" tIns="45720" bIns="45720"/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Failure path (ResponseRecovery): </a:t>
            </a:r>
            <a:r>
              <a:rPr lang="en-US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a timeout, breakdown or signal loss ends the trip, the unit goes OFFLINE, the case returns to the priority queue and the next-best unit is sent.</a:t>
            </a:r>
          </a:p>
        </p:txBody>
      </p:sp>
      <p:cxnSp>
        <p:nvCxnSpPr>
          <p:cNvPr id="7189" name="Connector 7188"/>
          <p:cNvCxnSpPr/>
          <p:nvPr/>
        </p:nvCxnSpPr>
        <p:spPr>
          <a:xfrm>
            <a:off x="6096000" y="3800000"/>
            <a:ext cx="0" cy="500000"/>
          </a:xfrm>
          <a:prstGeom prst="line">
            <a:avLst/>
          </a:prstGeom>
          <a:ln w="25400">
            <a:solidFill>
              <a:srgbClr val="C00000"/>
            </a:solidFill>
            <a:tailEnd type="triangle" w="med" len="med"/>
          </a:ln>
        </p:spPr>
      </p:cxnSp>
      <p:sp>
        <p:nvSpPr>
          <p:cNvPr id="7190" name="Escalation ladder"/>
          <p:cNvSpPr/>
          <p:nvPr/>
        </p:nvSpPr>
        <p:spPr>
          <a:xfrm>
            <a:off x="396000" y="4300000"/>
            <a:ext cx="4312500" cy="9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5597"/>
            </a:solidFill>
          </a:ln>
        </p:spPr>
        <p:txBody>
          <a:bodyPr rtlCol="0" anchor="ctr" wrap="square" lIns="91440" rIns="91440" tIns="45720" bIns="45720"/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Escalation ladder: </a:t>
            </a:r>
            <a:r>
              <a:rPr lang="en-US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LOW keep monitoring, MEDIUM nurse call, HIGH or CRITICAL ambulance (CRITICAL may preempt).</a:t>
            </a:r>
          </a:p>
        </p:txBody>
      </p:sp>
      <p:sp>
        <p:nvSpPr>
          <p:cNvPr id="7191" name="Events strip"/>
          <p:cNvSpPr/>
          <p:nvPr/>
        </p:nvSpPr>
        <p:spPr>
          <a:xfrm>
            <a:off x="396000" y="5550000"/>
            <a:ext cx="11400000" cy="850000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txBody>
          <a:bodyPr rtlCol="0" anchor="ctr" wrap="square" lIns="91440" rIns="91440" tIns="45720" bIns="45720"/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Events, published after state is saved: </a:t>
            </a:r>
            <a:r>
              <a:rPr lang="en-US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CaseStatusChanged, CaseBandChanged, UnitAssigned, AssignmentStatusChanged. </a:t>
            </a:r>
            <a:r>
              <a:rPr lang="en-US" sz="1400" b="0" i="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Nothing is published when nothing changed. Planned consumers: notifications, tracking, dashboard.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CBD452D2-54FB-0140-B879-934768E5A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5736" y="238126"/>
            <a:ext cx="7477663" cy="591364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71054BFE-E22B-29A1-9287-DE50CC836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l">
              <a:spcBef>
                <a:spcPts val="900"/>
              </a:spcBef>
              <a:buFont typeface="Arial"/>
              <a:buChar char="•"/>
            </a:pPr>
            <a:r>
              <a:rPr lang="en-US" sz="2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Bottom-up and test-driven: each piece of the pure-Java core is built with unit tests before the next one starts.</a:t>
            </a:r>
          </a:p>
          <a:p>
            <a:pPr marL="342900" indent="-342900" algn="l">
              <a:spcBef>
                <a:spcPts val="900"/>
              </a:spcBef>
              <a:buFont typeface="Arial"/>
              <a:buChar char="•"/>
            </a:pPr>
            <a:r>
              <a:rPr lang="en-US" sz="2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Hexagonal design: the engine depends only on interfaces; in-memory adapters now, Redis, Postgres and Kafka later.</a:t>
            </a:r>
          </a:p>
          <a:p>
            <a:pPr marL="342900" indent="-342900" algn="l">
              <a:spcBef>
                <a:spcPts val="900"/>
              </a:spcBef>
              <a:buFont typeface="Arial"/>
              <a:buChar char="•"/>
            </a:pPr>
            <a:r>
              <a:rPr lang="en-US" sz="2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State machines guard every change to a case, unit and assignment, so illegal states cannot be built.</a:t>
            </a:r>
          </a:p>
          <a:p>
            <a:pPr marL="342900" indent="-342900" algn="l">
              <a:spcBef>
                <a:spcPts val="900"/>
              </a:spcBef>
              <a:buFont typeface="Arial"/>
              <a:buChar char="•"/>
            </a:pPr>
            <a:r>
              <a:rPr lang="en-US" sz="2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Scoring sits behind a RiskScorer interface: a placeholder now, then NEWS2, trend, personal baseline and context.</a:t>
            </a:r>
          </a:p>
          <a:p>
            <a:pPr marL="342900" indent="-342900" algn="l">
              <a:spcBef>
                <a:spcPts val="900"/>
              </a:spcBef>
              <a:buFont typeface="Arial"/>
              <a:buChar char="•"/>
            </a:pPr>
            <a:r>
              <a:rPr lang="en-US" sz="2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Time comes from an injected clock, so a 60-second timeout is tested instantly.</a:t>
            </a:r>
          </a:p>
          <a:p>
            <a:pPr marL="342900" indent="-342900" algn="l">
              <a:spcBef>
                <a:spcPts val="900"/>
              </a:spcBef>
              <a:buFont typeface="Arial"/>
              <a:buChar char="•"/>
            </a:pPr>
            <a:r>
              <a:rPr lang="en-US" sz="2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A simulator of synthetic patients will compare scoring strategies on detection and dispatch 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D8466640-E6E7-02AC-883A-7E6C5E56F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1108" y="206505"/>
            <a:ext cx="8518879" cy="543993"/>
          </a:xfrm>
        </p:spPr>
        <p:txBody>
          <a:bodyPr>
            <a:normAutofit fontScale="90000"/>
          </a:bodyPr>
          <a:lstStyle/>
          <a:p>
            <a:pPr marL="536575" algn="ctr" eaLnBrk="1" fontAlgn="auto" hangingPunct="1">
              <a:lnSpc>
                <a:spcPct val="150000"/>
              </a:lnSpc>
              <a:spcAft>
                <a:spcPts val="0"/>
              </a:spcAft>
              <a:tabLst>
                <a:tab pos="630238" algn="l"/>
              </a:tabLst>
              <a:defRPr/>
            </a:pPr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Roadmap</a:t>
            </a:r>
          </a:p>
        </p:txBody>
      </p:sp>
      <p:sp>
        <p:nvSpPr>
          <p:cNvPr id="9219" name="Phase 1 status"/>
          <p:cNvSpPr/>
          <p:nvPr/>
        </p:nvSpPr>
        <p:spPr>
          <a:xfrm>
            <a:off x="396000" y="1250000"/>
            <a:ext cx="2100000" cy="380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wrap="square" lIns="91440" rIns="91440" tIns="45720" bIns="45720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DONE</a:t>
            </a:r>
          </a:p>
        </p:txBody>
      </p:sp>
      <p:sp>
        <p:nvSpPr>
          <p:cNvPr id="9220" name="Phase 1"/>
          <p:cNvSpPr/>
          <p:nvPr/>
        </p:nvSpPr>
        <p:spPr>
          <a:xfrm>
            <a:off x="396000" y="1630000"/>
            <a:ext cx="2100000" cy="3400000"/>
          </a:xfrm>
          <a:prstGeom prst="rect">
            <a:avLst/>
          </a:prstGeom>
          <a:solidFill>
            <a:srgbClr val="FFFFFF"/>
          </a:solidFill>
          <a:ln w="22225">
            <a:solidFill>
              <a:srgbClr val="548235"/>
            </a:solidFill>
          </a:ln>
        </p:spPr>
        <p:txBody>
          <a:bodyPr rtlCol="0" anchor="t" wrap="square" lIns="91440" rIns="91440" tIns="45720" bIns="45720"/>
          <a:lstStyle/>
          <a:p>
            <a:pPr marL="0" indent="0" algn="l">
              <a:spcBef>
                <a:spcPts val="700"/>
              </a:spcBef>
              <a:buNone/>
            </a:pPr>
            <a:r>
              <a:rPr lang="en-US" sz="1800" b="1" i="0" dirty="0">
                <a:solidFill>
                  <a:srgbClr val="5482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Core engine</a:t>
            </a:r>
          </a:p>
          <a:p>
            <a:pPr marL="0" indent="0" algn="l">
              <a:spcBef>
                <a:spcPts val="700"/>
              </a:spcBef>
              <a:buNone/>
            </a:pPr>
            <a:r>
              <a:rPr lang="en-US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Domain and state machines</a:t>
            </a:r>
          </a:p>
          <a:p>
            <a:pPr marL="0" indent="0" algn="l">
              <a:spcBef>
                <a:spcPts val="700"/>
              </a:spcBef>
              <a:buNone/>
            </a:pPr>
            <a:r>
              <a:rPr lang="en-US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Ports, in-memory adapters</a:t>
            </a:r>
          </a:p>
          <a:p>
            <a:pPr marL="0" indent="0" algn="l">
              <a:spcBef>
                <a:spcPts val="700"/>
              </a:spcBef>
              <a:buNone/>
            </a:pPr>
            <a:r>
              <a:rPr lang="en-US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Dispatcher, timeouts, recovery</a:t>
            </a:r>
          </a:p>
          <a:p>
            <a:pPr marL="0" indent="0" algn="l">
              <a:spcBef>
                <a:spcPts val="700"/>
              </a:spcBef>
              <a:buNone/>
            </a:pPr>
            <a:r>
              <a:rPr lang="en-US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Live trip monitoring</a:t>
            </a:r>
          </a:p>
          <a:p>
            <a:pPr marL="0" indent="0" algn="l">
              <a:spcBef>
                <a:spcPts val="700"/>
              </a:spcBef>
              <a:buNone/>
            </a:pPr>
            <a:r>
              <a:rPr lang="en-US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354 tests</a:t>
            </a:r>
          </a:p>
        </p:txBody>
      </p:sp>
      <p:cxnSp>
        <p:nvCxnSpPr>
          <p:cNvPr id="9221" name="Connector 9220"/>
          <p:cNvCxnSpPr/>
          <p:nvPr/>
        </p:nvCxnSpPr>
        <p:spPr>
          <a:xfrm>
            <a:off x="2496000" y="3330000"/>
            <a:ext cx="22500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</p:cxnSp>
      <p:sp>
        <p:nvSpPr>
          <p:cNvPr id="9222" name="Phase 2 status"/>
          <p:cNvSpPr/>
          <p:nvPr/>
        </p:nvSpPr>
        <p:spPr>
          <a:xfrm>
            <a:off x="2721000" y="1250000"/>
            <a:ext cx="2100000" cy="38000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txBody>
          <a:bodyPr rtlCol="0" anchor="ctr" wrap="square" lIns="91440" rIns="91440" tIns="45720" bIns="45720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IN PROGRESS</a:t>
            </a:r>
          </a:p>
        </p:txBody>
      </p:sp>
      <p:sp>
        <p:nvSpPr>
          <p:cNvPr id="9223" name="Phase 2"/>
          <p:cNvSpPr/>
          <p:nvPr/>
        </p:nvSpPr>
        <p:spPr>
          <a:xfrm>
            <a:off x="2721000" y="1630000"/>
            <a:ext cx="2100000" cy="3400000"/>
          </a:xfrm>
          <a:prstGeom prst="rect">
            <a:avLst/>
          </a:prstGeom>
          <a:solidFill>
            <a:srgbClr val="FFFFFF"/>
          </a:solidFill>
          <a:ln w="22225">
            <a:solidFill>
              <a:srgbClr val="BF8F00"/>
            </a:solidFill>
          </a:ln>
        </p:spPr>
        <p:txBody>
          <a:bodyPr rtlCol="0" anchor="t" wrap="square" lIns="91440" rIns="91440" tIns="45720" bIns="45720"/>
          <a:lstStyle/>
          <a:p>
            <a:pPr marL="0" indent="0" algn="l">
              <a:spcBef>
                <a:spcPts val="700"/>
              </a:spcBef>
              <a:buNone/>
            </a:pPr>
            <a:r>
              <a:rPr lang="en-US" sz="1800" b="1" i="0" dirty="0">
                <a:solidFill>
                  <a:srgbClr val="BF8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Smarter dispatch</a:t>
            </a:r>
          </a:p>
          <a:p>
            <a:pPr marL="0" indent="0" algn="l">
              <a:spcBef>
                <a:spcPts val="700"/>
              </a:spcBef>
              <a:buNone/>
            </a:pPr>
            <a:r>
              <a:rPr lang="en-US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Preemption of lower-priority cases</a:t>
            </a:r>
          </a:p>
          <a:p>
            <a:pPr marL="0" indent="0" algn="l">
              <a:spcBef>
                <a:spcPts val="700"/>
              </a:spcBef>
              <a:buNone/>
            </a:pPr>
            <a:r>
              <a:rPr lang="en-US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Response decider</a:t>
            </a:r>
          </a:p>
          <a:p>
            <a:pPr marL="0" indent="0" algn="l">
              <a:spcBef>
                <a:spcPts val="700"/>
              </a:spcBef>
              <a:buNone/>
            </a:pPr>
            <a:r>
              <a:rPr lang="en-US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VitalsProcessor entry point</a:t>
            </a:r>
          </a:p>
        </p:txBody>
      </p:sp>
      <p:cxnSp>
        <p:nvCxnSpPr>
          <p:cNvPr id="9224" name="Connector 9223"/>
          <p:cNvCxnSpPr/>
          <p:nvPr/>
        </p:nvCxnSpPr>
        <p:spPr>
          <a:xfrm>
            <a:off x="4821000" y="3330000"/>
            <a:ext cx="22500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</p:cxnSp>
      <p:sp>
        <p:nvSpPr>
          <p:cNvPr id="9225" name="Phase 3 status"/>
          <p:cNvSpPr/>
          <p:nvPr/>
        </p:nvSpPr>
        <p:spPr>
          <a:xfrm>
            <a:off x="5046000" y="1250000"/>
            <a:ext cx="2100000" cy="3800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rtlCol="0" anchor="ctr" wrap="square" lIns="91440" rIns="91440" tIns="45720" bIns="45720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NEXT</a:t>
            </a:r>
          </a:p>
        </p:txBody>
      </p:sp>
      <p:sp>
        <p:nvSpPr>
          <p:cNvPr id="9226" name="Phase 3"/>
          <p:cNvSpPr/>
          <p:nvPr/>
        </p:nvSpPr>
        <p:spPr>
          <a:xfrm>
            <a:off x="5046000" y="1630000"/>
            <a:ext cx="2100000" cy="3400000"/>
          </a:xfrm>
          <a:prstGeom prst="rect">
            <a:avLst/>
          </a:prstGeom>
          <a:solidFill>
            <a:srgbClr val="FFFFFF"/>
          </a:solidFill>
          <a:ln w="22225">
            <a:solidFill>
              <a:srgbClr val="2F5597"/>
            </a:solidFill>
          </a:ln>
        </p:spPr>
        <p:txBody>
          <a:bodyPr rtlCol="0" anchor="t" wrap="square" lIns="91440" rIns="91440" tIns="45720" bIns="45720"/>
          <a:lstStyle/>
          <a:p>
            <a:pPr marL="0" indent="0" algn="l">
              <a:spcBef>
                <a:spcPts val="700"/>
              </a:spcBef>
              <a:buNone/>
            </a:pPr>
            <a:r>
              <a:rPr lang="en-US" sz="1800" b="1" i="0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Simulator and scoring</a:t>
            </a:r>
          </a:p>
          <a:p>
            <a:pPr marL="0" indent="0" algn="l">
              <a:spcBef>
                <a:spcPts val="700"/>
              </a:spcBef>
              <a:buNone/>
            </a:pPr>
            <a:r>
              <a:rPr lang="en-US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Synthetic patients and units</a:t>
            </a:r>
          </a:p>
          <a:p>
            <a:pPr marL="0" indent="0" algn="l">
              <a:spcBef>
                <a:spcPts val="700"/>
              </a:spcBef>
              <a:buNone/>
            </a:pPr>
            <a:r>
              <a:rPr lang="en-US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NEWS2, trend, baseline</a:t>
            </a:r>
          </a:p>
          <a:p>
            <a:pPr marL="0" indent="0" algn="l">
              <a:spcBef>
                <a:spcPts val="700"/>
              </a:spcBef>
              <a:buNone/>
            </a:pPr>
            <a:r>
              <a:rPr lang="en-US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Scorer comparison results</a:t>
            </a:r>
          </a:p>
        </p:txBody>
      </p:sp>
      <p:cxnSp>
        <p:nvCxnSpPr>
          <p:cNvPr id="9227" name="Connector 9226"/>
          <p:cNvCxnSpPr/>
          <p:nvPr/>
        </p:nvCxnSpPr>
        <p:spPr>
          <a:xfrm>
            <a:off x="7146000" y="3330000"/>
            <a:ext cx="22500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</p:cxnSp>
      <p:sp>
        <p:nvSpPr>
          <p:cNvPr id="9228" name="Phase 4 status"/>
          <p:cNvSpPr/>
          <p:nvPr/>
        </p:nvSpPr>
        <p:spPr>
          <a:xfrm>
            <a:off x="7371000" y="1250000"/>
            <a:ext cx="2100000" cy="380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rtlCol="0" anchor="ctr" wrap="square" lIns="91440" rIns="91440" tIns="45720" bIns="45720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PLANNED</a:t>
            </a:r>
          </a:p>
        </p:txBody>
      </p:sp>
      <p:sp>
        <p:nvSpPr>
          <p:cNvPr id="9229" name="Phase 4"/>
          <p:cNvSpPr/>
          <p:nvPr/>
        </p:nvSpPr>
        <p:spPr>
          <a:xfrm>
            <a:off x="7371000" y="1630000"/>
            <a:ext cx="2100000" cy="3400000"/>
          </a:xfrm>
          <a:prstGeom prst="rect">
            <a:avLst/>
          </a:prstGeom>
          <a:solidFill>
            <a:srgbClr val="FFFFFF"/>
          </a:solidFill>
          <a:ln w="22225">
            <a:solidFill>
              <a:srgbClr val="7F7F7F"/>
            </a:solidFill>
          </a:ln>
        </p:spPr>
        <p:txBody>
          <a:bodyPr rtlCol="0" anchor="t" wrap="square" lIns="91440" rIns="91440" tIns="45720" bIns="45720"/>
          <a:lstStyle/>
          <a:p>
            <a:pPr marL="0" indent="0" algn="l">
              <a:spcBef>
                <a:spcPts val="700"/>
              </a:spcBef>
              <a:buNone/>
            </a:pPr>
            <a:r>
              <a:rPr lang="en-US" sz="1800" b="1" i="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Service layer</a:t>
            </a:r>
          </a:p>
          <a:p>
            <a:pPr marL="0" indent="0" algn="l">
              <a:spcBef>
                <a:spcPts val="700"/>
              </a:spcBef>
              <a:buNone/>
            </a:pPr>
            <a:r>
              <a:rPr lang="en-US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Spring Boot REST API</a:t>
            </a:r>
          </a:p>
          <a:p>
            <a:pPr marL="0" indent="0" algn="l">
              <a:spcBef>
                <a:spcPts val="700"/>
              </a:spcBef>
              <a:buNone/>
            </a:pPr>
            <a:r>
              <a:rPr lang="en-US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Postgres and Redis adapters</a:t>
            </a:r>
          </a:p>
          <a:p>
            <a:pPr marL="0" indent="0" algn="l">
              <a:spcBef>
                <a:spcPts val="700"/>
              </a:spcBef>
              <a:buNone/>
            </a:pPr>
            <a:r>
              <a:rPr lang="en-US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Authentication and roles</a:t>
            </a:r>
          </a:p>
          <a:p>
            <a:pPr marL="0" indent="0" algn="l">
              <a:spcBef>
                <a:spcPts val="700"/>
              </a:spcBef>
              <a:buNone/>
            </a:pPr>
            <a:r>
              <a:rPr lang="en-US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Hospital selection</a:t>
            </a:r>
          </a:p>
        </p:txBody>
      </p:sp>
      <p:cxnSp>
        <p:nvCxnSpPr>
          <p:cNvPr id="9230" name="Connector 9229"/>
          <p:cNvCxnSpPr/>
          <p:nvPr/>
        </p:nvCxnSpPr>
        <p:spPr>
          <a:xfrm>
            <a:off x="9471000" y="3330000"/>
            <a:ext cx="22500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</p:cxnSp>
      <p:sp>
        <p:nvSpPr>
          <p:cNvPr id="9231" name="Phase 5 status"/>
          <p:cNvSpPr/>
          <p:nvPr/>
        </p:nvSpPr>
        <p:spPr>
          <a:xfrm>
            <a:off x="9696000" y="1250000"/>
            <a:ext cx="2100000" cy="380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rtlCol="0" anchor="ctr" wrap="square" lIns="91440" rIns="91440" tIns="45720" bIns="45720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PLANNED</a:t>
            </a:r>
          </a:p>
        </p:txBody>
      </p:sp>
      <p:sp>
        <p:nvSpPr>
          <p:cNvPr id="9232" name="Phase 5"/>
          <p:cNvSpPr/>
          <p:nvPr/>
        </p:nvSpPr>
        <p:spPr>
          <a:xfrm>
            <a:off x="9696000" y="1630000"/>
            <a:ext cx="2100000" cy="3400000"/>
          </a:xfrm>
          <a:prstGeom prst="rect">
            <a:avLst/>
          </a:prstGeom>
          <a:solidFill>
            <a:srgbClr val="FFFFFF"/>
          </a:solidFill>
          <a:ln w="22225">
            <a:solidFill>
              <a:srgbClr val="7F7F7F"/>
            </a:solidFill>
          </a:ln>
        </p:spPr>
        <p:txBody>
          <a:bodyPr rtlCol="0" anchor="t" wrap="square" lIns="91440" rIns="91440" tIns="45720" bIns="45720"/>
          <a:lstStyle/>
          <a:p>
            <a:pPr marL="0" indent="0" algn="l">
              <a:spcBef>
                <a:spcPts val="700"/>
              </a:spcBef>
              <a:buNone/>
            </a:pPr>
            <a:r>
              <a:rPr lang="en-US" sz="1800" b="1" i="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Scale and demo</a:t>
            </a:r>
          </a:p>
          <a:p>
            <a:pPr marL="0" indent="0" algn="l">
              <a:spcBef>
                <a:spcPts val="700"/>
              </a:spcBef>
              <a:buNone/>
            </a:pPr>
            <a:r>
              <a:rPr lang="en-US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Kafka and outbox</a:t>
            </a:r>
          </a:p>
          <a:p>
            <a:pPr marL="0" indent="0" algn="l">
              <a:spcBef>
                <a:spcPts val="700"/>
              </a:spcBef>
              <a:buNone/>
            </a:pPr>
            <a:r>
              <a:rPr lang="en-US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Docker and Kubernetes</a:t>
            </a:r>
          </a:p>
          <a:p>
            <a:pPr marL="0" indent="0" algn="l">
              <a:spcBef>
                <a:spcPts val="700"/>
              </a:spcBef>
              <a:buNone/>
            </a:pPr>
            <a:r>
              <a:rPr lang="en-US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Metrics and load test</a:t>
            </a:r>
          </a:p>
          <a:p>
            <a:pPr marL="0" indent="0" algn="l">
              <a:spcBef>
                <a:spcPts val="700"/>
              </a:spcBef>
              <a:buNone/>
            </a:pPr>
            <a:r>
              <a:rPr lang="en-US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Live dashboard and demo</a:t>
            </a:r>
          </a:p>
        </p:txBody>
      </p:sp>
      <p:sp>
        <p:nvSpPr>
          <p:cNvPr id="9233" name="Roadmap note"/>
          <p:cNvSpPr/>
          <p:nvPr/>
        </p:nvSpPr>
        <p:spPr>
          <a:xfrm>
            <a:off x="396000" y="5350000"/>
            <a:ext cx="11400000" cy="8000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91440" rIns="91440" tIns="45720" bIns="45720"/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2F55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Every phase ends with something runnable. </a:t>
            </a:r>
            <a:r>
              <a:rPr lang="en-US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Deadline: December. The pure-Java core and the simulator results come first; the service layer, Kafka and deployment build on them.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52325-D15D-EBB0-606F-D7A164F83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9789" y="238126"/>
            <a:ext cx="10203610" cy="59136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43EB0-AAFB-9A3B-ECDB-D41837C88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spcBef>
                <a:spcPts val="1000"/>
              </a:spcBef>
              <a:buNone/>
            </a:pPr>
            <a:r>
              <a:rPr lang="en-US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[1] L. Brotcorne, G. Laporte and F. Semet, "Ambulance location and relocation models," European Journal of Operational Research, vol. 147, no. 3, pp. 451-463, 2003.</a:t>
            </a:r>
          </a:p>
          <a:p>
            <a:pPr marL="0" indent="0" algn="l">
              <a:spcBef>
                <a:spcPts val="1000"/>
              </a:spcBef>
              <a:buNone/>
            </a:pPr>
            <a:r>
              <a:rPr lang="en-US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[2] Royal College of Physicians, "National Early Warning Score (NEWS) 2: Standardising the assessment of acute-illness severity in the NHS," London, 2017.</a:t>
            </a:r>
          </a:p>
          <a:p>
            <a:pPr marL="0" indent="0" algn="l">
              <a:spcBef>
                <a:spcPts val="1000"/>
              </a:spcBef>
              <a:buNone/>
            </a:pPr>
            <a:r>
              <a:rPr lang="en-US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[3] A. Y. A. Amer et al., "Vital signs prediction and early warning score calculation based on continuous monitoring of hospitalised patients using wearable technology," Sensors, vol. 20, no. 22, art. 6593, 2020.</a:t>
            </a:r>
          </a:p>
          <a:p>
            <a:pPr marL="0" indent="0" algn="l">
              <a:spcBef>
                <a:spcPts val="1000"/>
              </a:spcBef>
              <a:buNone/>
            </a:pPr>
            <a:r>
              <a:rPr lang="en-US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[4] S. N. Blomberg et al., "Effect of machine learning on dispatcher recognition of out-of-hospital cardiac arrest during calls to emergency medical services: a randomized clinical trial," JAMA Network Open, vol. 4, no. 1, e2032320, 2021.</a:t>
            </a:r>
          </a:p>
          <a:p>
            <a:pPr marL="0" indent="0" algn="l">
              <a:spcBef>
                <a:spcPts val="1000"/>
              </a:spcBef>
              <a:buNone/>
            </a:pPr>
            <a:r>
              <a:rPr lang="en-US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[5] C. Areia et al., "The impact of wearable continuous vital sign monitoring on deterioration detection and clinical outcomes in hospitalised patients: a systematic review and meta-analysis," Critical Care, vol. 25, art. 351, 2021.</a:t>
            </a:r>
          </a:p>
          <a:p>
            <a:pPr marL="0" indent="0" algn="l">
              <a:spcBef>
                <a:spcPts val="1000"/>
              </a:spcBef>
              <a:buNone/>
            </a:pPr>
            <a:r>
              <a:rPr lang="en-US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[6] S. Lo Conte et al., "Development and validation of a NEWS2-enhanced multivariable prediction model for clinical deterioration and in-hospital mortality in hospitalized adults," Medicina, vol. 61, no. 9, art. 1543, 2025.</a:t>
            </a:r>
          </a:p>
        </p:txBody>
      </p:sp>
    </p:spTree>
    <p:extLst>
      <p:ext uri="{BB962C8B-B14F-4D97-AF65-F5344CB8AC3E}">
        <p14:creationId xmlns:p14="http://schemas.microsoft.com/office/powerpoint/2010/main" val="1248784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6069A-4A3D-8235-7F07-AD78E265C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7148"/>
            <a:ext cx="10515600" cy="5271189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3657600" lvl="8" indent="0">
              <a:buNone/>
            </a:pPr>
            <a:r>
              <a:rPr lang="en-US" sz="4000" dirty="0"/>
              <a:t>THANK YOU 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138513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209</Words>
  <Application>Microsoft Office PowerPoint</Application>
  <PresentationFormat>Widescreen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Wingdings</vt:lpstr>
      <vt:lpstr>Office Theme</vt:lpstr>
      <vt:lpstr>  Department of Computer Science and Engineering  Academic Year (ODD 2026-27)  24CSE57 -SOCIETAL BASED MINI PROJECT Title of the Project                                                                                                                                                                                                                </vt:lpstr>
      <vt:lpstr>Contents</vt:lpstr>
      <vt:lpstr>Introduction</vt:lpstr>
      <vt:lpstr>Literature Survey(Min :5Papers) </vt:lpstr>
      <vt:lpstr>Problem Definition</vt:lpstr>
      <vt:lpstr>Objectives</vt:lpstr>
      <vt:lpstr>Requirement Specification</vt:lpstr>
      <vt:lpstr>Design</vt:lpstr>
      <vt:lpstr>Methodology</vt:lpstr>
      <vt:lpstr>Implementation Roadmap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HELMET</dc:title>
  <dc:creator>Deepti Rai</dc:creator>
  <cp:lastModifiedBy>vijayashreehp@outlook.com</cp:lastModifiedBy>
  <cp:revision>44</cp:revision>
  <dcterms:created xsi:type="dcterms:W3CDTF">2020-10-20T04:21:28Z</dcterms:created>
  <dcterms:modified xsi:type="dcterms:W3CDTF">2026-10-22T10:54:16Z</dcterms:modified>
</cp:coreProperties>
</file>